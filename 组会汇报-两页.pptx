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wm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1446" y="726948"/>
            <a:ext cx="5064861" cy="5064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12745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1111"/>
                </a:solidFill>
                <a:latin typeface="宋体"/>
                <a:ea typeface="宋体"/>
              </a:rPr>
              <a:t>学习汇报 ①｜Agent 基础能力建设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731520"/>
            <a:ext cx="4142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3F6C99"/>
                </a:solidFill>
                <a:latin typeface="宋体"/>
                <a:ea typeface="宋体"/>
              </a:rPr>
              <a:t>以上内容在 AI 辅助下于近三周内完成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50292" cy="51206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宋体"/>
                <a:ea typeface="宋体"/>
              </a:rPr>
              <a:t>前半部分已完成：从配置 DeepSeek 环境到做出带工具、带记忆、带护栏的 Agent，每个模块都有可运行的产出。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00" cy="3950208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宋体"/>
                <a:ea typeface="宋体"/>
              </a:rPr>
              <a:t>本次汇报内容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84832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D6E6F5"/>
                </a:solidFill>
                <a:latin typeface="宋体"/>
                <a:ea typeface="宋体"/>
              </a:rPr>
              <a:t>共 4 个模块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50592"/>
            <a:ext cx="493776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60904"/>
            <a:ext cx="384048" cy="237744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62432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宋体"/>
                <a:ea typeface="宋体"/>
              </a:rPr>
              <a:t>概念与环境｜跑通第一个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88950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DCEAF7"/>
                </a:solidFill>
                <a:latin typeface="宋体"/>
                <a:ea typeface="宋体"/>
              </a:rPr>
              <a:t>注册 DeepSeek 并配置 API Key；跑通 00 普通调用与 01 最小 Agent，掌握 base_url 指向 DeepSeek 的关键配置。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96996"/>
            <a:ext cx="493776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83864"/>
            <a:ext cx="384048" cy="237744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44728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宋体"/>
                <a:ea typeface="宋体"/>
              </a:rPr>
              <a:t>让 Agent 学会使用工具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71246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DCEAF7"/>
                </a:solidFill>
                <a:latin typeface="宋体"/>
                <a:ea typeface="宋体"/>
              </a:rPr>
              <a:t>02_agent_with_tool 注册 3 个 function_tool，跑通「模型决定调用 → Python 执行 → 结果回填」的完整循环。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19956"/>
            <a:ext cx="493776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306824"/>
            <a:ext cx="384048" cy="237744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27024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宋体"/>
                <a:ea typeface="宋体"/>
              </a:rPr>
              <a:t>多轮记忆与多 Agent 交接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453542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DCEAF7"/>
                </a:solidFill>
                <a:latin typeface="宋体"/>
                <a:ea typeface="宋体"/>
              </a:rPr>
              <a:t>03 手动传 history 的记忆 Demo 与无 history 对照实验；04 总控 Agent 自动交接给历史 / 数学老师。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42916"/>
            <a:ext cx="493776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129784"/>
            <a:ext cx="384048" cy="237744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509320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宋体"/>
                <a:ea typeface="宋体"/>
              </a:rPr>
              <a:t>安全护栏与人工审批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535838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DCEAF7"/>
                </a:solidFill>
                <a:latin typeface="宋体"/>
                <a:ea typeface="宋体"/>
              </a:rPr>
              <a:t>05 输入 / 输出护栏拦截危险操作与 Key 泄露；06 敏感工具 needs_approval 的批准、拒绝双路径验证。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920240"/>
            <a:ext cx="5486400" cy="3950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2057400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173BB"/>
                </a:solidFill>
                <a:latin typeface="宋体"/>
                <a:ea typeface="宋体"/>
              </a:rPr>
              <a:t>下一步计划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2084832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5B8CB8"/>
                </a:solidFill>
                <a:latin typeface="宋体"/>
                <a:ea typeface="宋体"/>
              </a:rPr>
              <a:t>共 4 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9672" y="2450592"/>
            <a:ext cx="4937760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19672" y="2660904"/>
            <a:ext cx="384048" cy="23774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宋体"/>
                <a:ea typeface="宋体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1736" y="262432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宋体"/>
                <a:ea typeface="宋体"/>
              </a:rPr>
              <a:t>追踪与评估：日志、账单与用例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1736" y="288950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宋体"/>
                <a:ea typeface="宋体"/>
              </a:rPr>
              <a:t>本地打印模型回复、工具参数与交接目标；学会查看 DeepSeek 账单；给前期 Agent 写 2–3 条评估用例。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9672" y="3396996"/>
            <a:ext cx="4937760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19672" y="3483864"/>
            <a:ext cx="384048" cy="23774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宋体"/>
                <a:ea typeface="宋体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1736" y="344728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宋体"/>
                <a:ea typeface="宋体"/>
              </a:rPr>
              <a:t>项目启动与最小可用版本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736" y="371246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宋体"/>
                <a:ea typeface="宋体"/>
              </a:rPr>
              <a:t>定题「个人笔记问答助手」并完成设计；实现 config / tools / agent / main，跑通提问→搜索→回答+引用。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9672" y="4219956"/>
            <a:ext cx="4937760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19672" y="4306824"/>
            <a:ext cx="384048" cy="23774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宋体"/>
                <a:ea typeface="宋体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427024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宋体"/>
                <a:ea typeface="宋体"/>
              </a:rPr>
              <a:t>项目收尾与交互升级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453542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宋体"/>
                <a:ea typeface="宋体"/>
              </a:rPr>
              <a:t>修 read_note 目录漏洞、search_notes 加每文件上限；main 加 check_input 与多轮交互循环（/new、/exit）。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19672" y="5042916"/>
            <a:ext cx="4937760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19672" y="5129784"/>
            <a:ext cx="384048" cy="23774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宋体"/>
                <a:ea typeface="宋体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6" y="509320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宋体"/>
                <a:ea typeface="宋体"/>
              </a:rPr>
              <a:t>产品线进阶与复盘展示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6" y="535838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宋体"/>
                <a:ea typeface="宋体"/>
              </a:rPr>
              <a:t>写 AGENTS.md、做自定义 Skill、接 filesystem MCP、试 Subagents；整理 README 与演示材料。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35040"/>
            <a:ext cx="1127455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6035040"/>
            <a:ext cx="50292" cy="402336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6035040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0173BB"/>
                </a:solidFill>
                <a:latin typeface="宋体"/>
                <a:ea typeface="宋体"/>
              </a:rPr>
              <a:t>本阶段产出：</a:t>
            </a:r>
            <a:r>
              <a:rPr sz="1050" b="0">
                <a:solidFill>
                  <a:srgbClr val="555555"/>
                </a:solidFill>
                <a:latin typeface="宋体"/>
                <a:ea typeface="宋体"/>
              </a:rPr>
              <a:t>8 个练习脚本 · 763 行代码 · 3 篇学习笔记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wm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1446" y="726948"/>
            <a:ext cx="5064861" cy="50648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"/>
            <a:ext cx="1127455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11111"/>
                </a:solidFill>
                <a:latin typeface="宋体"/>
                <a:ea typeface="宋体"/>
              </a:rPr>
              <a:t>学习汇报 ②｜项目落地与工程化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731520"/>
            <a:ext cx="4142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3F6C99"/>
                </a:solidFill>
                <a:latin typeface="宋体"/>
                <a:ea typeface="宋体"/>
              </a:rPr>
              <a:t>以上内容在 AI 辅助下于近三周内完成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50292" cy="51206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宋体"/>
                <a:ea typeface="宋体"/>
              </a:rPr>
              <a:t>后半部分已完成：把 Agent 做成能用的项目 notes-qa，并补齐评估、成本控制、Codex 生态与复盘展示。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486400" cy="3950208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宋体"/>
                <a:ea typeface="宋体"/>
              </a:rPr>
              <a:t>本次汇报内容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84832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D6E6F5"/>
                </a:solidFill>
                <a:latin typeface="宋体"/>
                <a:ea typeface="宋体"/>
              </a:rPr>
              <a:t>共 4 个模块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50592"/>
            <a:ext cx="493776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60904"/>
            <a:ext cx="384048" cy="237744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62432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宋体"/>
                <a:ea typeface="宋体"/>
              </a:rPr>
              <a:t>本地日志、成本与评估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88950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DCEAF7"/>
                </a:solidFill>
                <a:latin typeface="宋体"/>
                <a:ea typeface="宋体"/>
              </a:rPr>
              <a:t>用本地日志定位问题；DeepSeek 账单合计 20.79 元；为前期 Agent 写 3 条评估用例，用评估衡量改进效果。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96996"/>
            <a:ext cx="493776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83864"/>
            <a:ext cx="384048" cy="237744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44728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宋体"/>
                <a:ea typeface="宋体"/>
              </a:rPr>
              <a:t>项目设计与最小可用版本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71246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DCEAF7"/>
                </a:solidFill>
                <a:latin typeface="宋体"/>
                <a:ea typeface="宋体"/>
              </a:rPr>
              <a:t>notes-qa 落地 5 个文件，跑通「提问→搜索→读取→回答+引用」；路径穿越被拒、查不到答案不编造。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19956"/>
            <a:ext cx="493776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306824"/>
            <a:ext cx="384048" cy="237744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27024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宋体"/>
                <a:ea typeface="宋体"/>
              </a:rPr>
              <a:t>项目收尾与安全加固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453542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DCEAF7"/>
                </a:solidFill>
                <a:latin typeface="宋体"/>
                <a:ea typeface="宋体"/>
              </a:rPr>
              <a:t>修 read_note 目录漏洞、search_notes 每文件限 2 条、check_input 拦超长输入，评估扩到 8 条全通过。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42916"/>
            <a:ext cx="4937760" cy="9144"/>
          </a:xfrm>
          <a:prstGeom prst="rect">
            <a:avLst/>
          </a:prstGeom>
          <a:solidFill>
            <a:srgbClr val="4D9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129784"/>
            <a:ext cx="384048" cy="237744"/>
          </a:xfrm>
          <a:prstGeom prst="rect">
            <a:avLst/>
          </a:prstGeom>
          <a:solidFill>
            <a:srgbClr val="E6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0173BB"/>
                </a:solidFill>
                <a:latin typeface="宋体"/>
                <a:ea typeface="宋体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509320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宋体"/>
                <a:ea typeface="宋体"/>
              </a:rPr>
              <a:t>产品线进阶与复盘展示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584" y="535838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DCEAF7"/>
                </a:solidFill>
                <a:latin typeface="宋体"/>
                <a:ea typeface="宋体"/>
              </a:rPr>
              <a:t>AGENTS.md + 自定义 Skill + filesystem MCP + Subagents；Codex 审查发现 2 个真 bug、1 个真漏洞。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920240"/>
            <a:ext cx="5486400" cy="3950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2057400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173BB"/>
                </a:solidFill>
                <a:latin typeface="宋体"/>
                <a:ea typeface="宋体"/>
              </a:rPr>
              <a:t>下一步计划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2084832"/>
            <a:ext cx="2377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5B8CB8"/>
                </a:solidFill>
                <a:latin typeface="宋体"/>
                <a:ea typeface="宋体"/>
              </a:rPr>
              <a:t>共 4 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9672" y="2450592"/>
            <a:ext cx="4937760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19672" y="2660904"/>
            <a:ext cx="384048" cy="23774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宋体"/>
                <a:ea typeface="宋体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1736" y="262432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宋体"/>
                <a:ea typeface="宋体"/>
              </a:rPr>
              <a:t>扩展输入类型（近期）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1736" y="288950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宋体"/>
                <a:ea typeface="宋体"/>
              </a:rPr>
              <a:t>让 notes-qa 支持 PDF / Word / txt，不再局限于 Markdown 笔记，可以直接读文献与资料。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9672" y="3396996"/>
            <a:ext cx="4937760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19672" y="3483864"/>
            <a:ext cx="384048" cy="23774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宋体"/>
                <a:ea typeface="宋体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1736" y="344728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宋体"/>
                <a:ea typeface="宋体"/>
              </a:rPr>
              <a:t>引入向量检索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736" y="371246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宋体"/>
                <a:ea typeface="宋体"/>
              </a:rPr>
              <a:t>目前只有关键词匹配，改用 embedding + 向量检索，提升模糊提问的命中率与召回质量。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19672" y="4219956"/>
            <a:ext cx="4937760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19672" y="4306824"/>
            <a:ext cx="384048" cy="23774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宋体"/>
                <a:ea typeface="宋体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427024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宋体"/>
                <a:ea typeface="宋体"/>
              </a:rPr>
              <a:t>做一个 Web 界面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453542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宋体"/>
                <a:ea typeface="宋体"/>
              </a:rPr>
              <a:t>命令行已经用熟，做一个简单网页版，方便分享给同组同学直接使用。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19672" y="5042916"/>
            <a:ext cx="4937760" cy="9144"/>
          </a:xfrm>
          <a:prstGeom prst="rect">
            <a:avLst/>
          </a:prstGeom>
          <a:solidFill>
            <a:srgbClr val="C8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19672" y="5129784"/>
            <a:ext cx="384048" cy="237744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宋体"/>
                <a:ea typeface="宋体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6" y="509320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宋体"/>
                <a:ea typeface="宋体"/>
              </a:rPr>
              <a:t>中期方向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6" y="5358384"/>
            <a:ext cx="44256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555555"/>
                </a:solidFill>
                <a:latin typeface="宋体"/>
                <a:ea typeface="宋体"/>
              </a:rPr>
              <a:t>做服务科研的数控 / 智能制造资料检索 Agent；系统搞懂 RAG；自己动手写一个 MCP server。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35040"/>
            <a:ext cx="11274552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6035040"/>
            <a:ext cx="50292" cy="402336"/>
          </a:xfrm>
          <a:prstGeom prst="rect">
            <a:avLst/>
          </a:prstGeom>
          <a:solidFill>
            <a:srgbClr val="01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6035040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0173BB"/>
                </a:solidFill>
                <a:latin typeface="宋体"/>
                <a:ea typeface="宋体"/>
              </a:rPr>
              <a:t>本阶段产出：</a:t>
            </a:r>
            <a:r>
              <a:rPr sz="1050" b="0">
                <a:solidFill>
                  <a:srgbClr val="555555"/>
                </a:solidFill>
                <a:latin typeface="宋体"/>
                <a:ea typeface="宋体"/>
              </a:rPr>
              <a:t>6 个项目代码文件 · 823 行代码 · 评估 15/15 通过 · 5 篇学习笔记 + README / 索引 / 演示稿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