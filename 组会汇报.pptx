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pic>
        <p:nvPicPr>
          <p:cNvPr id="3" name="Picture 2" descr="wm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1446" y="726948"/>
            <a:ext cx="5064861" cy="506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"/>
            <a:ext cx="112745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宋体"/>
                <a:ea typeface="宋体"/>
              </a:rPr>
              <a:t>学习汇报 ①｜Agent 基础能力建设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713232"/>
            <a:ext cx="4507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3F6C99"/>
                </a:solidFill>
                <a:latin typeface="宋体"/>
                <a:ea typeface="宋体"/>
              </a:rPr>
              <a:t>以上内容在 AI 辅助下于近三周内完成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9576"/>
            <a:ext cx="50292" cy="457200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52144"/>
            <a:ext cx="11064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宋体"/>
                <a:ea typeface="宋体"/>
              </a:rPr>
              <a:t>前半部分已完成：从配置 DeepSeek 环境到做出带工具、带记忆、带护栏的 Agent，每个模块都有可运行的产出。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4846320" cy="4069080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宋体"/>
                <a:ea typeface="宋体"/>
              </a:rPr>
              <a:t>本次汇报内容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9384"/>
            <a:ext cx="1828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6E6F5"/>
                </a:solidFill>
                <a:latin typeface="宋体"/>
                <a:ea typeface="宋体"/>
              </a:rPr>
              <a:t>共 4 个模块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429768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78024"/>
            <a:ext cx="365760" cy="228600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432303"/>
            <a:ext cx="3529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宋体"/>
                <a:ea typeface="宋体"/>
              </a:rPr>
              <a:t>概念与环境｜跑通第一个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697479"/>
            <a:ext cx="3529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CEAF7"/>
                </a:solidFill>
                <a:latin typeface="宋体"/>
                <a:ea typeface="宋体"/>
              </a:rPr>
              <a:t>注册 DeepSeek 并配置 API Key；跑通 00 普通调用与 01 最小 Agent，掌握 base_url 指向 DeepSeek 的关键配置。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98114"/>
            <a:ext cx="429768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30702"/>
            <a:ext cx="365760" cy="228600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284982"/>
            <a:ext cx="3529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宋体"/>
                <a:ea typeface="宋体"/>
              </a:rPr>
              <a:t>让 Agent 学会使用工具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550158"/>
            <a:ext cx="3529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CEAF7"/>
                </a:solidFill>
                <a:latin typeface="宋体"/>
                <a:ea typeface="宋体"/>
              </a:rPr>
              <a:t>02_agent_with_tool 注册 3 个 function_tool，跑通「模型决定调用 → Python 执行 → 结果回填」的完整循环。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50792"/>
            <a:ext cx="429768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83380"/>
            <a:ext cx="365760" cy="228600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37660"/>
            <a:ext cx="3529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宋体"/>
                <a:ea typeface="宋体"/>
              </a:rPr>
              <a:t>多轮记忆与多 Agent 交接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402836"/>
            <a:ext cx="3529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CEAF7"/>
                </a:solidFill>
                <a:latin typeface="宋体"/>
                <a:ea typeface="宋体"/>
              </a:rPr>
              <a:t>03 手动传 history 的记忆 Demo 与无 history 对照实验；04 总控 Agent 自动交接给历史 / 数学老师。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03470"/>
            <a:ext cx="429768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036057"/>
            <a:ext cx="365760" cy="228600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990338"/>
            <a:ext cx="3529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宋体"/>
                <a:ea typeface="宋体"/>
              </a:rPr>
              <a:t>安全护栏与人工审批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5255514"/>
            <a:ext cx="35295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CEAF7"/>
                </a:solidFill>
                <a:latin typeface="宋体"/>
                <a:ea typeface="宋体"/>
              </a:rPr>
              <a:t>05 输入 / 输出护栏拦截危险操作与 Key 泄露；06 敏感工具 needs_approval 的批准、拒绝双路径验证。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1783080"/>
            <a:ext cx="61539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874519"/>
            <a:ext cx="3959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173BB"/>
                </a:solidFill>
                <a:latin typeface="宋体"/>
                <a:ea typeface="宋体"/>
              </a:rPr>
              <a:t>机制一｜工具调用循环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1901952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5B8CB8"/>
                </a:solidFill>
                <a:latin typeface="宋体"/>
                <a:ea typeface="宋体"/>
              </a:rPr>
              <a:t>02_agent_with_tool.py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203704"/>
            <a:ext cx="5696712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06440" y="2505456"/>
            <a:ext cx="1243584" cy="786384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① 用户提问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今天北京几点？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50024" y="2898648"/>
            <a:ext cx="201168" cy="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51192" y="2505456"/>
            <a:ext cx="1243584" cy="786384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② 模型判断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需要调用工具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94776" y="2898648"/>
            <a:ext cx="201168" cy="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695944" y="2505456"/>
            <a:ext cx="1243584" cy="786384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③ 工具执行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结果回填模型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39528" y="2898648"/>
            <a:ext cx="201168" cy="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40696" y="2505456"/>
            <a:ext cx="1243584" cy="786384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④ 模型作答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输出最终回答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384280" y="2898648"/>
            <a:ext cx="146304" cy="0"/>
          </a:xfrm>
          <a:prstGeom prst="line">
            <a:avLst/>
          </a:prstGeom>
          <a:ln w="15875">
            <a:solidFill>
              <a:srgbClr val="0173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530584" y="2304288"/>
            <a:ext cx="0" cy="594360"/>
          </a:xfrm>
          <a:prstGeom prst="line">
            <a:avLst/>
          </a:prstGeom>
          <a:ln w="15875">
            <a:solidFill>
              <a:srgbClr val="0173BB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872983" y="2304288"/>
            <a:ext cx="3657601" cy="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06440" y="3364992"/>
            <a:ext cx="56967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3366"/>
                </a:solidFill>
                <a:latin typeface="宋体"/>
                <a:ea typeface="宋体"/>
              </a:rPr>
              <a:t>↻ 模型可连续调用多个工具，直到任务完成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877056"/>
            <a:ext cx="61539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3968496"/>
            <a:ext cx="3959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173BB"/>
                </a:solidFill>
                <a:latin typeface="宋体"/>
                <a:ea typeface="宋体"/>
              </a:rPr>
              <a:t>机制二｜多 Agent 交接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8632" y="3995928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5B8CB8"/>
                </a:solidFill>
                <a:latin typeface="宋体"/>
                <a:ea typeface="宋体"/>
              </a:rPr>
              <a:t>04_multi_agent_handoff.py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4297680"/>
            <a:ext cx="5696712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06440" y="4663440"/>
            <a:ext cx="1188720" cy="640080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用户提问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663440"/>
            <a:ext cx="1554480" cy="640080"/>
          </a:xfrm>
          <a:prstGeom prst="round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宋体"/>
                <a:ea typeface="宋体"/>
              </a:rPr>
              <a:t>总控 Agent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宋体"/>
                <a:ea typeface="宋体"/>
              </a:rPr>
              <a:t>判断问题类型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4480560"/>
            <a:ext cx="1325880" cy="457200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历史老师 Agent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5029200"/>
            <a:ext cx="1325880" cy="457200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数学老师 Agent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61320" y="4663440"/>
            <a:ext cx="941832" cy="640080"/>
          </a:xfrm>
          <a:prstGeom prst="roundRect">
            <a:avLst/>
          </a:prstGeom>
          <a:solidFill>
            <a:srgbClr val="E6F2FF"/>
          </a:solidFill>
          <a:ln w="9525">
            <a:solidFill>
              <a:srgbClr val="0173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作答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66"/>
                </a:solidFill>
                <a:latin typeface="宋体"/>
                <a:ea typeface="宋体"/>
              </a:rPr>
              <a:t>返回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95160" y="4983480"/>
            <a:ext cx="228600" cy="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778240" y="4709160"/>
            <a:ext cx="228600" cy="13716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778240" y="5120640"/>
            <a:ext cx="228600" cy="13716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332720" y="4709160"/>
            <a:ext cx="228600" cy="13716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332720" y="5120640"/>
            <a:ext cx="228600" cy="137160"/>
          </a:xfrm>
          <a:prstGeom prst="line">
            <a:avLst/>
          </a:prstGeom>
          <a:ln w="15875">
            <a:solidFill>
              <a:srgbClr val="01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806440" y="5541264"/>
            <a:ext cx="56967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3366"/>
                </a:solidFill>
                <a:latin typeface="宋体"/>
                <a:ea typeface="宋体"/>
              </a:rPr>
              <a:t>handoffs 交出控制权；Agent as tool 只调用不交出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89320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5989320"/>
            <a:ext cx="50292" cy="384048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5989320"/>
            <a:ext cx="10881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73BB"/>
                </a:solidFill>
                <a:latin typeface="宋体"/>
                <a:ea typeface="宋体"/>
              </a:rPr>
              <a:t>下一步计划：</a:t>
            </a:r>
            <a:r>
              <a:rPr sz="1050" b="0">
                <a:solidFill>
                  <a:srgbClr val="555555"/>
                </a:solidFill>
                <a:latin typeface="宋体"/>
                <a:ea typeface="宋体"/>
              </a:rPr>
              <a:t>追踪与评估 → 项目启动与 MVP → 收尾与交互升级 → 产品线进阶与复盘  ｜  本阶段产出：8 个脚本 · 763 行代码 · 3 篇学习笔记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pic>
        <p:nvPicPr>
          <p:cNvPr id="3" name="Picture 2" descr="wm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1446" y="726948"/>
            <a:ext cx="5064861" cy="506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"/>
            <a:ext cx="112745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宋体"/>
                <a:ea typeface="宋体"/>
              </a:rPr>
              <a:t>学习汇报 ②｜项目落地与工程化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713232"/>
            <a:ext cx="4507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3F6C99"/>
                </a:solidFill>
                <a:latin typeface="宋体"/>
                <a:ea typeface="宋体"/>
              </a:rPr>
              <a:t>notes-qa 运行演示 · 8 次请求 · 40952 输入 / 1992 输出 token</a:t>
            </a:r>
          </a:p>
        </p:txBody>
      </p:sp>
      <p:pic>
        <p:nvPicPr>
          <p:cNvPr id="6" name="Picture 5" descr="截图 2026-09-14 14-42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" y="1097280"/>
            <a:ext cx="10698480" cy="4521860"/>
          </a:xfrm>
          <a:prstGeom prst="rect">
            <a:avLst/>
          </a:prstGeom>
          <a:ln w="12700">
            <a:solidFill>
              <a:srgbClr val="6E93BC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57200" y="568756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687568"/>
            <a:ext cx="50292" cy="384048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687568"/>
            <a:ext cx="10881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73BB"/>
                </a:solidFill>
                <a:latin typeface="宋体"/>
                <a:ea typeface="宋体"/>
              </a:rPr>
              <a:t>本次汇报内容：</a:t>
            </a:r>
            <a:r>
              <a:rPr sz="1050" b="0">
                <a:solidFill>
                  <a:srgbClr val="555555"/>
                </a:solidFill>
                <a:latin typeface="宋体"/>
                <a:ea typeface="宋体"/>
              </a:rPr>
              <a:t>本地日志、成本与评估 · 项目设计与 MVP · 项目收尾与安全加固 · 产品线进阶与复盘展示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89904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89904"/>
            <a:ext cx="50292" cy="384048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089904"/>
            <a:ext cx="10881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73BB"/>
                </a:solidFill>
                <a:latin typeface="宋体"/>
                <a:ea typeface="宋体"/>
              </a:rPr>
              <a:t>下一步计划：</a:t>
            </a:r>
            <a:r>
              <a:rPr sz="1050" b="0">
                <a:solidFill>
                  <a:srgbClr val="555555"/>
                </a:solidFill>
                <a:latin typeface="宋体"/>
                <a:ea typeface="宋体"/>
              </a:rPr>
              <a:t>扩展输入类型（PDF/Word）→ 引入向量检索 → 做 Web 界面 → 中期方向  ｜  本阶段产出：6 个项目文件 · 823 行代码 · 评估 15/15 通过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